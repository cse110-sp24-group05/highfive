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6" r:id="rId2"/>
    <p:sldId id="257" r:id="rId3"/>
    <p:sldId id="259" r:id="rId4"/>
    <p:sldId id="258" r:id="rId5"/>
    <p:sldId id="261" r:id="rId6"/>
    <p:sldId id="260" r:id="rId7"/>
    <p:sldId id="267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56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5342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-457200"/>
            <a:ext cx="6400800" cy="4572000"/>
          </a:xfrm>
          <a:prstGeom prst="ellipse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1371600"/>
            <a:ext cx="5029200" cy="3657600"/>
          </a:xfrm>
          <a:prstGeom prst="ellipse">
            <a:avLst/>
          </a:prstGeom>
          <a:solidFill>
            <a:srgbClr val="1D4ED8">
              <a:alpha val="8000"/>
            </a:srgbClr>
          </a:solidFill>
          <a:ln w="12700">
            <a:solidFill>
              <a:srgbClr val="1D4ED8">
                <a:alpha val="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59436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AIT</a:t>
            </a:r>
            <a:endParaRPr lang="en-US" sz="110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3474720" cy="2743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57860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Issue Tracker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217920" y="1408176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F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76288" y="14173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files issue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76288" y="166420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Assigns to human or agent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83096" y="1865376"/>
            <a:ext cx="27432" cy="182880"/>
          </a:xfrm>
          <a:prstGeom prst="rect">
            <a:avLst/>
          </a:prstGeom>
          <a:solidFill>
            <a:srgbClr val="1C2A45"/>
          </a:solidFill>
          <a:ln w="12700">
            <a:solidFill>
              <a:srgbClr val="1C2A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2093976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F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76288" y="21031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claims it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76288" y="235000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lock — no race conditions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83096" y="2551176"/>
            <a:ext cx="27432" cy="182880"/>
          </a:xfrm>
          <a:prstGeom prst="rect">
            <a:avLst/>
          </a:prstGeom>
          <a:solidFill>
            <a:srgbClr val="1C2A45"/>
          </a:solidFill>
          <a:ln w="12700">
            <a:solidFill>
              <a:srgbClr val="1C2A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2779776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F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76288" y="27889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gets done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876288" y="303580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reads repo, writes code, opens PR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83096" y="3236976"/>
            <a:ext cx="27432" cy="182880"/>
          </a:xfrm>
          <a:prstGeom prst="rect">
            <a:avLst/>
          </a:prstGeom>
          <a:solidFill>
            <a:srgbClr val="1C2A45"/>
          </a:solidFill>
          <a:ln w="12700">
            <a:solidFill>
              <a:srgbClr val="1C2A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3465576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F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76288" y="34747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AIT logs everything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876288" y="372160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Tokens, time, full audit trail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83096" y="3922776"/>
            <a:ext cx="27432" cy="182880"/>
          </a:xfrm>
          <a:prstGeom prst="rect">
            <a:avLst/>
          </a:prstGeom>
          <a:solidFill>
            <a:srgbClr val="1C2A45"/>
          </a:solidFill>
          <a:ln w="12700">
            <a:solidFill>
              <a:srgbClr val="1C2A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4151376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F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876288" y="41605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reviews + ships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876288" y="440740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always controls what merges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7548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5  ·  CSE 110  ·  Spring 2026</a:t>
            </a:r>
            <a:endParaRPr lang="en-US" sz="1000" dirty="0"/>
          </a:p>
        </p:txBody>
      </p:sp>
      <p:sp>
        <p:nvSpPr>
          <p:cNvPr id="30" name="Shape 2">
            <a:extLst>
              <a:ext uri="{FF2B5EF4-FFF2-40B4-BE49-F238E27FC236}">
                <a16:creationId xmlns:a16="http://schemas.microsoft.com/office/drawing/2014/main" id="{747944E0-6AF8-CA40-DBAC-05DB811A96FB}"/>
              </a:ext>
            </a:extLst>
          </p:cNvPr>
          <p:cNvSpPr/>
          <p:nvPr/>
        </p:nvSpPr>
        <p:spPr>
          <a:xfrm>
            <a:off x="402336" y="237744"/>
            <a:ext cx="3377794" cy="256032"/>
          </a:xfrm>
          <a:prstGeom prst="roundRect">
            <a:avLst>
              <a:gd name="adj" fmla="val 25000"/>
            </a:avLst>
          </a:prstGeom>
          <a:solidFill>
            <a:srgbClr val="172D5E"/>
          </a:solidFill>
          <a:ln w="9525">
            <a:solidFill>
              <a:srgbClr val="4F8EF7"/>
            </a:solidFill>
            <a:prstDash val="solid"/>
          </a:ln>
        </p:spPr>
      </p:sp>
      <p:sp>
        <p:nvSpPr>
          <p:cNvPr id="31" name="Text 3">
            <a:extLst>
              <a:ext uri="{FF2B5EF4-FFF2-40B4-BE49-F238E27FC236}">
                <a16:creationId xmlns:a16="http://schemas.microsoft.com/office/drawing/2014/main" id="{F92DC6DA-6065-E2BE-C80D-9ABEF4D4DE8B}"/>
              </a:ext>
            </a:extLst>
          </p:cNvPr>
          <p:cNvSpPr/>
          <p:nvPr/>
        </p:nvSpPr>
        <p:spPr>
          <a:xfrm>
            <a:off x="457200" y="256032"/>
            <a:ext cx="33777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F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 110  ·  TEAM 5  ·  Team Status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5029200" cy="4114800"/>
          </a:xfrm>
          <a:prstGeom prst="ellipse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01168"/>
            <a:ext cx="1768450" cy="256032"/>
          </a:xfrm>
          <a:prstGeom prst="roundRect">
            <a:avLst>
              <a:gd name="adj" fmla="val 25000"/>
            </a:avLst>
          </a:prstGeom>
          <a:solidFill>
            <a:srgbClr val="172D5E"/>
          </a:solidFill>
          <a:ln w="9525">
            <a:solidFill>
              <a:srgbClr val="4F8E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01168"/>
            <a:ext cx="17684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F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SOLUTION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5029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AIT Exists.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320040" y="1325880"/>
            <a:ext cx="45720" cy="56692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624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agent-native tracker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16184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Jira, Linear, GitHub Issues are designed for humans only. Agents can't self-select work.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212848"/>
            <a:ext cx="45720" cy="56692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2494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cost visibility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25054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token or compute tracking. You can't budget what you can't measure.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3099816"/>
            <a:ext cx="45720" cy="56692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1363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conditions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" y="33924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claim-locking. Multiple agents grab the same task simultaneously.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986784"/>
            <a:ext cx="45720" cy="56692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0233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fragmentation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42793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builders need one unified view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26280" y="1280160"/>
            <a:ext cx="27432" cy="3520440"/>
          </a:xfrm>
          <a:prstGeom prst="rect">
            <a:avLst/>
          </a:prstGeom>
          <a:solidFill>
            <a:srgbClr val="1C2A45"/>
          </a:solidFill>
          <a:ln w="12700">
            <a:solidFill>
              <a:srgbClr val="1C2A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1243584"/>
            <a:ext cx="1280160" cy="256032"/>
          </a:xfrm>
          <a:prstGeom prst="roundRect">
            <a:avLst>
              <a:gd name="adj" fmla="val 25000"/>
            </a:avLst>
          </a:prstGeom>
          <a:solidFill>
            <a:srgbClr val="172D5E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2801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0" y="176048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0" dirty="0">
                <a:solidFill>
                  <a:srgbClr val="DD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website, built on Cloudflare, where issues get assigned to humans or agents. Pick your agent, it pulls context from the site, and the work gets done.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754880" y="2487168"/>
            <a:ext cx="1920240" cy="475488"/>
          </a:xfrm>
          <a:prstGeom prst="roundRect">
            <a:avLst>
              <a:gd name="adj" fmla="val 19231"/>
            </a:avLst>
          </a:prstGeom>
          <a:solidFill>
            <a:srgbClr val="10141F"/>
          </a:solidFill>
          <a:ln w="9525">
            <a:solidFill>
              <a:srgbClr val="1C2A45"/>
            </a:solidFill>
            <a:prstDash val="solid"/>
          </a:ln>
          <a:effectLst>
            <a:outerShdw blurRad="2540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82896" y="253288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+ Kanban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82896" y="273405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UI, drag-and-drop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21424" y="2487168"/>
            <a:ext cx="1920240" cy="475488"/>
          </a:xfrm>
          <a:prstGeom prst="roundRect">
            <a:avLst>
              <a:gd name="adj" fmla="val 19231"/>
            </a:avLst>
          </a:prstGeom>
          <a:solidFill>
            <a:srgbClr val="10141F"/>
          </a:solidFill>
          <a:ln w="9525">
            <a:solidFill>
              <a:srgbClr val="1C2A45"/>
            </a:solidFill>
            <a:prstDash val="solid"/>
          </a:ln>
          <a:effectLst>
            <a:outerShdw blurRad="2540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949440" y="253288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JSON Endpoint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49440" y="2734056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GET/POST/PATCH typed schema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054096"/>
            <a:ext cx="1920240" cy="475488"/>
          </a:xfrm>
          <a:prstGeom prst="roundRect">
            <a:avLst>
              <a:gd name="adj" fmla="val 19231"/>
            </a:avLst>
          </a:prstGeom>
          <a:solidFill>
            <a:srgbClr val="10141F"/>
          </a:solidFill>
          <a:ln w="9525">
            <a:solidFill>
              <a:srgbClr val="1C2A45"/>
            </a:solidFill>
            <a:prstDash val="solid"/>
          </a:ln>
          <a:effectLst>
            <a:outerShdw blurRad="2540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82896" y="309981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Claim-Locking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82896" y="330098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Atomic, no double-claims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821424" y="3054096"/>
            <a:ext cx="1920240" cy="475488"/>
          </a:xfrm>
          <a:prstGeom prst="roundRect">
            <a:avLst>
              <a:gd name="adj" fmla="val 19231"/>
            </a:avLst>
          </a:prstGeom>
          <a:solidFill>
            <a:srgbClr val="10141F"/>
          </a:solidFill>
          <a:ln w="9525">
            <a:solidFill>
              <a:srgbClr val="1C2A45"/>
            </a:solidFill>
            <a:prstDash val="solid"/>
          </a:ln>
          <a:effectLst>
            <a:outerShdw blurRad="2540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949440" y="309981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Tracking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49440" y="3300984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+ actual per issue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3621024"/>
            <a:ext cx="1920240" cy="475488"/>
          </a:xfrm>
          <a:prstGeom prst="roundRect">
            <a:avLst>
              <a:gd name="adj" fmla="val 19231"/>
            </a:avLst>
          </a:prstGeom>
          <a:solidFill>
            <a:srgbClr val="10141F"/>
          </a:solidFill>
          <a:ln w="9525">
            <a:solidFill>
              <a:srgbClr val="1C2A45"/>
            </a:solidFill>
            <a:prstDash val="solid"/>
          </a:ln>
          <a:effectLst>
            <a:outerShdw blurRad="2540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882896" y="366674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82896" y="386791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change logged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821424" y="3621024"/>
            <a:ext cx="1920240" cy="475488"/>
          </a:xfrm>
          <a:prstGeom prst="roundRect">
            <a:avLst>
              <a:gd name="adj" fmla="val 19231"/>
            </a:avLst>
          </a:prstGeom>
          <a:solidFill>
            <a:srgbClr val="10141F"/>
          </a:solidFill>
          <a:ln w="9525">
            <a:solidFill>
              <a:srgbClr val="1C2A45"/>
            </a:solidFill>
            <a:prstDash val="solid"/>
          </a:ln>
          <a:effectLst>
            <a:outerShdw blurRad="2540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949440" y="366674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 Modes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949440" y="386791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 → Yolo tiers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5029200" cy="4114800"/>
          </a:xfrm>
          <a:prstGeom prst="ellipse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01168"/>
            <a:ext cx="1280160" cy="256032"/>
          </a:xfrm>
          <a:prstGeom prst="roundRect">
            <a:avLst>
              <a:gd name="adj" fmla="val 25000"/>
            </a:avLst>
          </a:prstGeom>
          <a:solidFill>
            <a:srgbClr val="172D5E"/>
          </a:solidFill>
          <a:ln w="9525">
            <a:solidFill>
              <a:srgbClr val="4F8E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F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USER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502920"/>
            <a:ext cx="8229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dev.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the Whole Operation.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320040" y="1901952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0C0F1A"/>
          </a:solidFill>
          <a:ln w="12700">
            <a:solidFill>
              <a:srgbClr val="4F8EF7"/>
            </a:solidFill>
            <a:prstDash val="solid"/>
          </a:ln>
          <a:effectLst>
            <a:outerShdw blurRad="2540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901952"/>
            <a:ext cx="82296" cy="868680"/>
          </a:xfrm>
          <a:prstGeom prst="round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9933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Entrepreneur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6928" y="234086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product with a small mixed team; humans and AI agents on the same backlog.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2926080"/>
            <a:ext cx="1280160" cy="256032"/>
          </a:xfrm>
          <a:prstGeom prst="roundRect">
            <a:avLst>
              <a:gd name="adj" fmla="val 25000"/>
            </a:avLst>
          </a:prstGeom>
          <a:solidFill>
            <a:srgbClr val="172D5E"/>
          </a:solidFill>
          <a:ln w="9525">
            <a:solidFill>
              <a:srgbClr val="4F8E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9260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F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63440" y="2926080"/>
            <a:ext cx="1446581" cy="256032"/>
          </a:xfrm>
          <a:prstGeom prst="roundRect">
            <a:avLst>
              <a:gd name="adj" fmla="val 25000"/>
            </a:avLst>
          </a:prstGeom>
          <a:solidFill>
            <a:srgbClr val="172D5E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926080"/>
            <a:ext cx="14465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FROM AIT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0040" y="32735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r>
              <a:rPr lang="en-US" sz="1150" dirty="0">
                <a:solidFill>
                  <a:srgbClr val="8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visibility into agent cost or output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20040" y="37307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r>
              <a:rPr lang="en-US" sz="1150" dirty="0">
                <a:solidFill>
                  <a:srgbClr val="8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tell if a task is stuck or quietly failing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20040" y="41879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r>
              <a:rPr lang="en-US" sz="1150" dirty="0">
                <a:solidFill>
                  <a:srgbClr val="8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structured way to hand off work to agents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663440" y="32735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150" dirty="0">
                <a:solidFill>
                  <a:srgbClr val="8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place to file work and see its status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663440" y="37307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150" dirty="0">
                <a:solidFill>
                  <a:srgbClr val="8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claim-locking; no double-work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663440" y="41879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150" dirty="0">
                <a:solidFill>
                  <a:srgbClr val="8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cost visibility to budget agents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663440" y="46451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1150" dirty="0">
                <a:solidFill>
                  <a:srgbClr val="8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gate before agent work ships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57200"/>
            <a:ext cx="4572000" cy="4114800"/>
          </a:xfrm>
          <a:prstGeom prst="ellipse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01168"/>
            <a:ext cx="1446581" cy="256032"/>
          </a:xfrm>
          <a:prstGeom prst="roundRect">
            <a:avLst>
              <a:gd name="adj" fmla="val 25000"/>
            </a:avLst>
          </a:prstGeom>
          <a:solidFill>
            <a:srgbClr val="172D5E"/>
          </a:solidFill>
          <a:ln w="9525">
            <a:solidFill>
              <a:srgbClr val="4F8E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01168"/>
            <a:ext cx="14465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F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DEMO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50292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Prototype.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20040" y="11704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Used Claude Code for generating a demo using our planned backlogs</a:t>
            </a:r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5029200" cy="3369564"/>
          </a:xfrm>
          <a:prstGeom prst="roundRect">
            <a:avLst>
              <a:gd name="adj" fmla="val 2817"/>
            </a:avLst>
          </a:prstGeom>
          <a:solidFill>
            <a:srgbClr val="10141F"/>
          </a:solidFill>
          <a:ln w="9525">
            <a:solidFill>
              <a:srgbClr val="4F8EF7"/>
            </a:solidFill>
            <a:prstDash val="solid"/>
          </a:ln>
          <a:effectLst>
            <a:outerShdw blurRad="254000" dist="63500" dir="8100000" algn="bl" rotWithShape="0">
              <a:srgbClr val="000000">
                <a:alpha val="50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64208"/>
            <a:ext cx="4846320" cy="30632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474116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Board  ·  List View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532120" y="1572768"/>
            <a:ext cx="3522670" cy="2865417"/>
          </a:xfrm>
          <a:prstGeom prst="roundRect">
            <a:avLst>
              <a:gd name="adj" fmla="val 2817"/>
            </a:avLst>
          </a:prstGeom>
          <a:solidFill>
            <a:srgbClr val="10141F"/>
          </a:solidFill>
          <a:ln w="9525">
            <a:solidFill>
              <a:srgbClr val="1C2A45"/>
            </a:solidFill>
            <a:prstDash val="solid"/>
          </a:ln>
          <a:effectLst>
            <a:outerShdw blurRad="254000" dist="63500" dir="8100000" algn="bl" rotWithShape="0">
              <a:srgbClr val="000000">
                <a:alpha val="50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0142" y="1734105"/>
            <a:ext cx="3366626" cy="22906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10142" y="418605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 ·  Token Burn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5029200" cy="4572000"/>
          </a:xfrm>
          <a:prstGeom prst="ellipse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01168"/>
            <a:ext cx="1366114" cy="256032"/>
          </a:xfrm>
          <a:prstGeom prst="roundRect">
            <a:avLst>
              <a:gd name="adj" fmla="val 25000"/>
            </a:avLst>
          </a:prstGeom>
          <a:solidFill>
            <a:srgbClr val="172D5E"/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01168"/>
            <a:ext cx="13661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DECISIONS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Changed. 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decisions made during Sprint 1 → Sprint 2.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508760"/>
            <a:ext cx="2743200" cy="3383280"/>
          </a:xfrm>
          <a:prstGeom prst="roundRect">
            <a:avLst>
              <a:gd name="adj" fmla="val 3333"/>
            </a:avLst>
          </a:prstGeom>
          <a:solidFill>
            <a:srgbClr val="0C0F1A"/>
          </a:solidFill>
          <a:ln w="9525">
            <a:solidFill>
              <a:srgbClr val="1C2A45"/>
            </a:solidFill>
            <a:prstDash val="solid"/>
          </a:ln>
          <a:effectLst>
            <a:outerShdw blurRad="2540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508760"/>
            <a:ext cx="2743200" cy="54864"/>
          </a:xfrm>
          <a:prstGeom prst="round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002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Layer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965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216712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 for all issue data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514600"/>
            <a:ext cx="2468880" cy="18288"/>
          </a:xfrm>
          <a:prstGeom prst="rect">
            <a:avLst/>
          </a:prstGeom>
          <a:solidFill>
            <a:srgbClr val="1C2A45"/>
          </a:solidFill>
          <a:ln w="12700">
            <a:solidFill>
              <a:srgbClr val="1C2A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877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278892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 cannot read localStorage without special browser permissions. Real agent integration was impossible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410712"/>
            <a:ext cx="2468880" cy="18288"/>
          </a:xfrm>
          <a:prstGeom prst="rect">
            <a:avLst/>
          </a:prstGeom>
          <a:solidFill>
            <a:srgbClr val="1C2A45"/>
          </a:solidFill>
          <a:ln w="12700">
            <a:solidFill>
              <a:srgbClr val="1C2A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4838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7200" y="3685032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D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Migrated to Cloudflare Workers + KV. Real HTTP endpoints, shared state across users and agents. Documented in ADRs.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18688" y="1508760"/>
            <a:ext cx="2743200" cy="3383280"/>
          </a:xfrm>
          <a:prstGeom prst="roundRect">
            <a:avLst>
              <a:gd name="adj" fmla="val 3333"/>
            </a:avLst>
          </a:prstGeom>
          <a:solidFill>
            <a:srgbClr val="0C0F1A"/>
          </a:solidFill>
          <a:ln w="9525">
            <a:solidFill>
              <a:srgbClr val="1C2A45"/>
            </a:solidFill>
            <a:prstDash val="solid"/>
          </a:ln>
          <a:effectLst>
            <a:outerShdw blurRad="2540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18688" y="1508760"/>
            <a:ext cx="2743200" cy="54864"/>
          </a:xfrm>
          <a:prstGeom prst="round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55848" y="16002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55848" y="1965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355848" y="216712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data.js handling all logic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55848" y="2514600"/>
            <a:ext cx="2468880" cy="18288"/>
          </a:xfrm>
          <a:prstGeom prst="rect">
            <a:avLst/>
          </a:prstGeom>
          <a:solidFill>
            <a:srgbClr val="1C2A45"/>
          </a:solidFill>
          <a:ln w="12700">
            <a:solidFill>
              <a:srgbClr val="1C2A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55848" y="25877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355848" y="278892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GitHub Pages site can't serve a real API. Agents had no way to poll for work over HTTP.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55848" y="3410712"/>
            <a:ext cx="2468880" cy="18288"/>
          </a:xfrm>
          <a:prstGeom prst="rect">
            <a:avLst/>
          </a:prstGeom>
          <a:solidFill>
            <a:srgbClr val="1C2A45"/>
          </a:solidFill>
          <a:ln w="12700">
            <a:solidFill>
              <a:srgbClr val="1C2A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55848" y="34838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55848" y="3685032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D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Replaced with workers.js on Cloudflare. All CRUD now goes through the Worker. Agents and frontend hit the same endpoints.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17336" y="1508760"/>
            <a:ext cx="2743200" cy="3383280"/>
          </a:xfrm>
          <a:prstGeom prst="roundRect">
            <a:avLst>
              <a:gd name="adj" fmla="val 3333"/>
            </a:avLst>
          </a:prstGeom>
          <a:solidFill>
            <a:srgbClr val="0C0F1A"/>
          </a:solidFill>
          <a:ln w="9525">
            <a:solidFill>
              <a:srgbClr val="1C2A45"/>
            </a:solidFill>
            <a:prstDash val="solid"/>
          </a:ln>
          <a:effectLst>
            <a:outerShdw blurRad="2540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17336" y="1508760"/>
            <a:ext cx="2743200" cy="54864"/>
          </a:xfrm>
          <a:prstGeom prst="round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54496" y="16002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Governance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54496" y="1965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254496" y="216712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schema.md as a loose informal reference document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54496" y="2514600"/>
            <a:ext cx="2468880" cy="18288"/>
          </a:xfrm>
          <a:prstGeom prst="rect">
            <a:avLst/>
          </a:prstGeom>
          <a:solidFill>
            <a:srgbClr val="1C2A45"/>
          </a:solidFill>
          <a:ln w="12700">
            <a:solidFill>
              <a:srgbClr val="1C2A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54496" y="25877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254496" y="278892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teams building on top of it with no enforcement.  schema drift was causing inconsistencies across files.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54496" y="3410712"/>
            <a:ext cx="2468880" cy="18288"/>
          </a:xfrm>
          <a:prstGeom prst="rect">
            <a:avLst/>
          </a:prstGeom>
          <a:solidFill>
            <a:srgbClr val="1C2A45"/>
          </a:solidFill>
          <a:ln w="12700">
            <a:solidFill>
              <a:srgbClr val="1C2A4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54496" y="34838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254496" y="3685032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D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schema.md locked as source of truth. Any change now requires a new ADR. 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5029200" cy="4572000"/>
          </a:xfrm>
          <a:prstGeom prst="ellipse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01168"/>
            <a:ext cx="2090318" cy="256032"/>
          </a:xfrm>
          <a:prstGeom prst="roundRect">
            <a:avLst>
              <a:gd name="adj" fmla="val 25000"/>
            </a:avLst>
          </a:prstGeom>
          <a:solidFill>
            <a:srgbClr val="172D5E"/>
          </a:solidFill>
          <a:ln w="9525">
            <a:solidFill>
              <a:srgbClr val="4F8E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01168"/>
            <a:ext cx="20903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F8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7/8  TEAM Status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Status.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2743200" cy="3703320"/>
          </a:xfrm>
          <a:prstGeom prst="roundRect">
            <a:avLst>
              <a:gd name="adj" fmla="val 3333"/>
            </a:avLst>
          </a:prstGeom>
          <a:solidFill>
            <a:srgbClr val="0C0F1A"/>
          </a:solidFill>
          <a:ln w="9525">
            <a:solidFill>
              <a:srgbClr val="1C2A45"/>
            </a:solidFill>
            <a:prstDash val="solid"/>
          </a:ln>
          <a:effectLst>
            <a:outerShdw blurRad="2540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34440"/>
            <a:ext cx="2743200" cy="54864"/>
          </a:xfrm>
          <a:prstGeom prst="round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2588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1 · Data &amp; Workflow Core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" y="169164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950" dirty="0">
                <a:solidFill>
                  <a:srgbClr val="DD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schema locked (schema.md)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9768" y="1984248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950" dirty="0">
                <a:solidFill>
                  <a:srgbClr val="DD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CRUD: createIssue, getIssueById,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updateIssue, deleteIssue, claimIssue,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postResult, closeIssue, blockIssue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29768" y="240487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950" dirty="0">
                <a:solidFill>
                  <a:srgbClr val="DD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states defined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9768" y="269748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950" dirty="0">
                <a:solidFill>
                  <a:srgbClr val="DD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helpers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9768" y="3154680"/>
            <a:ext cx="2523744" cy="18288"/>
          </a:xfrm>
          <a:prstGeom prst="rect">
            <a:avLst/>
          </a:prstGeom>
          <a:solidFill>
            <a:srgbClr val="1C2A45"/>
          </a:solidFill>
          <a:ln w="12700">
            <a:solidFill>
              <a:srgbClr val="1C2A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324612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r>
              <a:rPr lang="en-US" sz="950" dirty="0">
                <a:solidFill>
                  <a:srgbClr val="8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issue dataset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29768" y="353872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r>
              <a:rPr lang="en-US" sz="950" dirty="0">
                <a:solidFill>
                  <a:srgbClr val="8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 structure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29768" y="3831336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r>
              <a:rPr lang="en-US" sz="950" dirty="0">
                <a:solidFill>
                  <a:srgbClr val="8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Filtering + sorting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29768" y="4123944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r>
              <a:rPr lang="en-US" sz="950" dirty="0">
                <a:solidFill>
                  <a:srgbClr val="8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Frontend/API integration support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18688" y="1234440"/>
            <a:ext cx="2743200" cy="3703320"/>
          </a:xfrm>
          <a:prstGeom prst="roundRect">
            <a:avLst>
              <a:gd name="adj" fmla="val 3333"/>
            </a:avLst>
          </a:prstGeom>
          <a:solidFill>
            <a:srgbClr val="0C0F1A"/>
          </a:solidFill>
          <a:ln w="9525">
            <a:solidFill>
              <a:srgbClr val="1C2A45"/>
            </a:solidFill>
            <a:prstDash val="solid"/>
          </a:ln>
          <a:effectLst>
            <a:outerShdw blurRad="2540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18688" y="1234440"/>
            <a:ext cx="2743200" cy="54864"/>
          </a:xfrm>
          <a:prstGeom prst="round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55848" y="132588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2 · Frontend &amp; UX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28416" y="169164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950" dirty="0">
                <a:solidFill>
                  <a:srgbClr val="DD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Low-fi wireframes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28416" y="198424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950" dirty="0">
                <a:solidFill>
                  <a:srgbClr val="DD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Typography + color system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28416" y="2276856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950" dirty="0">
                <a:solidFill>
                  <a:srgbClr val="DD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view + Kanban layout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28416" y="2569464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950" dirty="0">
                <a:solidFill>
                  <a:srgbClr val="DD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detail + modal structure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28416" y="286207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950" dirty="0">
                <a:solidFill>
                  <a:srgbClr val="DD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+ settings layout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10128" y="3191256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950" dirty="0">
                <a:solidFill>
                  <a:srgbClr val="DD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 + search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28416" y="3606081"/>
            <a:ext cx="2523744" cy="18288"/>
          </a:xfrm>
          <a:prstGeom prst="rect">
            <a:avLst/>
          </a:prstGeom>
          <a:solidFill>
            <a:srgbClr val="1C2A45"/>
          </a:solidFill>
          <a:ln w="12700">
            <a:solidFill>
              <a:srgbClr val="1C2A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28416" y="386791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r>
              <a:rPr lang="en-US" sz="950" dirty="0">
                <a:solidFill>
                  <a:srgbClr val="8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real issue data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28416" y="416052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r>
              <a:rPr lang="en-US" sz="950" dirty="0">
                <a:solidFill>
                  <a:srgbClr val="8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integration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342132" y="445312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r>
              <a:rPr lang="en-US" sz="950" dirty="0">
                <a:solidFill>
                  <a:srgbClr val="8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cleanup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17336" y="1234440"/>
            <a:ext cx="2743200" cy="3703320"/>
          </a:xfrm>
          <a:prstGeom prst="roundRect">
            <a:avLst>
              <a:gd name="adj" fmla="val 3333"/>
            </a:avLst>
          </a:prstGeom>
          <a:solidFill>
            <a:srgbClr val="0C0F1A"/>
          </a:solidFill>
          <a:ln w="9525">
            <a:solidFill>
              <a:srgbClr val="1C2A45"/>
            </a:solidFill>
            <a:prstDash val="solid"/>
          </a:ln>
          <a:effectLst>
            <a:outerShdw blurRad="2540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17336" y="1234440"/>
            <a:ext cx="2743200" cy="54864"/>
          </a:xfrm>
          <a:prstGeom prst="round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54496" y="132588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3 · Agent Workflow &amp; DevOps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27064" y="169164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950" dirty="0">
                <a:solidFill>
                  <a:srgbClr val="DD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/api/issues, /api/claim,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/api/complete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227064" y="2112264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950" dirty="0">
                <a:solidFill>
                  <a:srgbClr val="DD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Simulator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208776" y="244144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950" dirty="0">
                <a:solidFill>
                  <a:srgbClr val="DD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Workers + KV live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27064" y="3026664"/>
            <a:ext cx="2523744" cy="18288"/>
          </a:xfrm>
          <a:prstGeom prst="rect">
            <a:avLst/>
          </a:prstGeom>
          <a:solidFill>
            <a:srgbClr val="1C2A45"/>
          </a:solidFill>
          <a:ln w="12700">
            <a:solidFill>
              <a:srgbClr val="1C2A4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27064" y="3118104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r>
              <a:rPr lang="en-US" sz="950" dirty="0">
                <a:solidFill>
                  <a:srgbClr val="8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simulator to issue state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227064" y="341071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r>
              <a:rPr lang="en-US" sz="950" dirty="0">
                <a:solidFill>
                  <a:srgbClr val="8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API to frontend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227064" y="370332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r>
              <a:rPr lang="en-US" sz="950" dirty="0">
                <a:solidFill>
                  <a:srgbClr val="8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tracking + audit log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227064" y="399592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r>
              <a:rPr lang="en-US" sz="950" dirty="0">
                <a:solidFill>
                  <a:srgbClr val="8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AIT Runner </a:t>
            </a:r>
            <a:endParaRPr lang="en-US" sz="950" dirty="0"/>
          </a:p>
        </p:txBody>
      </p:sp>
      <p:sp>
        <p:nvSpPr>
          <p:cNvPr id="47" name="Text 35">
            <a:extLst>
              <a:ext uri="{FF2B5EF4-FFF2-40B4-BE49-F238E27FC236}">
                <a16:creationId xmlns:a16="http://schemas.microsoft.com/office/drawing/2014/main" id="{9287BE56-6BC2-578A-3AC5-BAE3677BB600}"/>
              </a:ext>
            </a:extLst>
          </p:cNvPr>
          <p:cNvSpPr/>
          <p:nvPr/>
        </p:nvSpPr>
        <p:spPr>
          <a:xfrm>
            <a:off x="6227064" y="2656332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950" dirty="0">
                <a:solidFill>
                  <a:srgbClr val="DD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Contract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914400"/>
            <a:ext cx="5943600" cy="4572000"/>
          </a:xfrm>
          <a:prstGeom prst="ellipse">
            <a:avLst/>
          </a:prstGeom>
          <a:solidFill>
            <a:srgbClr val="1D4ED8">
              <a:alpha val="12000"/>
            </a:srgbClr>
          </a:solidFill>
          <a:ln w="12700">
            <a:solidFill>
              <a:srgbClr val="1D4ED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1828800"/>
            <a:ext cx="3657600" cy="3657600"/>
          </a:xfrm>
          <a:prstGeom prst="ellipse">
            <a:avLst/>
          </a:prstGeom>
          <a:solidFill>
            <a:srgbClr val="1D4ED8">
              <a:alpha val="7000"/>
            </a:srgbClr>
          </a:solidFill>
          <a:ln w="12700">
            <a:solidFill>
              <a:srgbClr val="1D4ED8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201168"/>
            <a:ext cx="1446581" cy="256032"/>
          </a:xfrm>
          <a:prstGeom prst="roundRect">
            <a:avLst>
              <a:gd name="adj" fmla="val 25000"/>
            </a:avLst>
          </a:prstGeom>
          <a:solidFill>
            <a:srgbClr val="172D5E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1168"/>
            <a:ext cx="14465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HEALTH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30994" y="546781"/>
            <a:ext cx="828201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Progress.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20040" y="11704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Agile process completed past sprints.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572768"/>
            <a:ext cx="2761488" cy="1261872"/>
          </a:xfrm>
          <a:prstGeom prst="roundRect">
            <a:avLst>
              <a:gd name="adj" fmla="val 7246"/>
            </a:avLst>
          </a:prstGeom>
          <a:solidFill>
            <a:srgbClr val="10141F"/>
          </a:solidFill>
          <a:ln w="9525">
            <a:solidFill>
              <a:srgbClr val="1C2A45"/>
            </a:solidFill>
            <a:prstDash val="solid"/>
          </a:ln>
          <a:effectLst>
            <a:outerShdw blurRad="2540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572768"/>
            <a:ext cx="2761488" cy="54864"/>
          </a:xfrm>
          <a:prstGeom prst="round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2376" y="1682496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Standups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8056" y="1975104"/>
            <a:ext cx="2505456" cy="18288"/>
          </a:xfrm>
          <a:prstGeom prst="rect">
            <a:avLst/>
          </a:prstGeom>
          <a:solidFill>
            <a:srgbClr val="1C2A45"/>
          </a:solidFill>
          <a:ln w="12700">
            <a:solidFill>
              <a:srgbClr val="1C2A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" y="2048256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 per week · async Slack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/ Doing / Blocked format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 files logged to repo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9544" y="1572768"/>
            <a:ext cx="2761488" cy="1261872"/>
          </a:xfrm>
          <a:prstGeom prst="roundRect">
            <a:avLst>
              <a:gd name="adj" fmla="val 7246"/>
            </a:avLst>
          </a:prstGeom>
          <a:solidFill>
            <a:srgbClr val="10141F"/>
          </a:solidFill>
          <a:ln w="9525">
            <a:solidFill>
              <a:srgbClr val="1C2A45"/>
            </a:solidFill>
            <a:prstDash val="solid"/>
          </a:ln>
          <a:effectLst>
            <a:outerShdw blurRad="2540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9544" y="1572768"/>
            <a:ext cx="2761488" cy="54864"/>
          </a:xfrm>
          <a:prstGeom prst="round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11880" y="1682496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Retrospectives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37560" y="1975104"/>
            <a:ext cx="2505456" cy="18288"/>
          </a:xfrm>
          <a:prstGeom prst="rect">
            <a:avLst/>
          </a:prstGeom>
          <a:solidFill>
            <a:srgbClr val="1C2A45"/>
          </a:solidFill>
          <a:ln w="12700">
            <a:solidFill>
              <a:srgbClr val="1C2A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2048256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in Retrium each sprint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reflects on what went well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items tracked forward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99048" y="1572768"/>
            <a:ext cx="2761488" cy="1261872"/>
          </a:xfrm>
          <a:prstGeom prst="roundRect">
            <a:avLst>
              <a:gd name="adj" fmla="val 7246"/>
            </a:avLst>
          </a:prstGeom>
          <a:solidFill>
            <a:srgbClr val="10141F"/>
          </a:solidFill>
          <a:ln w="9525">
            <a:solidFill>
              <a:srgbClr val="1C2A45"/>
            </a:solidFill>
            <a:prstDash val="solid"/>
          </a:ln>
          <a:effectLst>
            <a:outerShdw blurRad="2540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99048" y="1572768"/>
            <a:ext cx="2761488" cy="54864"/>
          </a:xfrm>
          <a:prstGeom prst="round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27064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01384" y="1682496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Check-in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27064" y="1975104"/>
            <a:ext cx="2505456" cy="18288"/>
          </a:xfrm>
          <a:prstGeom prst="rect">
            <a:avLst/>
          </a:prstGeom>
          <a:solidFill>
            <a:srgbClr val="1C2A45"/>
          </a:solidFill>
          <a:ln w="12700">
            <a:solidFill>
              <a:srgbClr val="1C2A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27064" y="2048256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TA meetings attended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committed to /docs/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9AB8"/>
                </a:solidFill>
                <a:latin typeface="Arial" pitchFamily="34" charset="0"/>
                <a:cs typeface="Arial" pitchFamily="34" charset="-120"/>
              </a:rPr>
              <a:t>Check-Ins with stakeholders done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2944368"/>
            <a:ext cx="2761488" cy="1261872"/>
          </a:xfrm>
          <a:prstGeom prst="roundRect">
            <a:avLst>
              <a:gd name="adj" fmla="val 7246"/>
            </a:avLst>
          </a:prstGeom>
          <a:solidFill>
            <a:srgbClr val="10141F"/>
          </a:solidFill>
          <a:ln w="9525">
            <a:solidFill>
              <a:srgbClr val="1C2A45"/>
            </a:solidFill>
            <a:prstDash val="solid"/>
          </a:ln>
          <a:effectLst>
            <a:outerShdw blurRad="2540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2944368"/>
            <a:ext cx="2761488" cy="54864"/>
          </a:xfrm>
          <a:prstGeom prst="round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8056" y="3035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22376" y="3054096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ADRs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48056" y="3346704"/>
            <a:ext cx="2505456" cy="18288"/>
          </a:xfrm>
          <a:prstGeom prst="rect">
            <a:avLst/>
          </a:prstGeom>
          <a:solidFill>
            <a:srgbClr val="1C2A45"/>
          </a:solidFill>
          <a:ln w="12700">
            <a:solidFill>
              <a:srgbClr val="1C2A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8056" y="3485723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in MADR format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9AB8"/>
                </a:solidFill>
                <a:latin typeface="Arial" pitchFamily="34" charset="0"/>
                <a:cs typeface="Arial" pitchFamily="34" charset="-120"/>
              </a:rPr>
              <a:t>On our repo  under Docs/ADRs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9544" y="2944368"/>
            <a:ext cx="2761488" cy="1261872"/>
          </a:xfrm>
          <a:prstGeom prst="roundRect">
            <a:avLst>
              <a:gd name="adj" fmla="val 7246"/>
            </a:avLst>
          </a:prstGeom>
          <a:solidFill>
            <a:srgbClr val="10141F"/>
          </a:solidFill>
          <a:ln w="9525">
            <a:solidFill>
              <a:srgbClr val="1C2A45"/>
            </a:solidFill>
            <a:prstDash val="solid"/>
          </a:ln>
          <a:effectLst>
            <a:outerShdw blurRad="2540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9544" y="2944368"/>
            <a:ext cx="2761488" cy="54864"/>
          </a:xfrm>
          <a:prstGeom prst="round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37560" y="3035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611880" y="3054096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Miro Boards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337560" y="3346704"/>
            <a:ext cx="2505456" cy="18288"/>
          </a:xfrm>
          <a:prstGeom prst="rect">
            <a:avLst/>
          </a:prstGeom>
          <a:solidFill>
            <a:srgbClr val="1C2A45"/>
          </a:solidFill>
          <a:ln w="12700">
            <a:solidFill>
              <a:srgbClr val="1C2A4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37560" y="3419856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board active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 changes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aligned on priorities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099048" y="2944368"/>
            <a:ext cx="2761488" cy="1261872"/>
          </a:xfrm>
          <a:prstGeom prst="roundRect">
            <a:avLst>
              <a:gd name="adj" fmla="val 7246"/>
            </a:avLst>
          </a:prstGeom>
          <a:solidFill>
            <a:srgbClr val="10141F"/>
          </a:solidFill>
          <a:ln w="9525">
            <a:solidFill>
              <a:srgbClr val="1C2A45"/>
            </a:solidFill>
            <a:prstDash val="solid"/>
          </a:ln>
          <a:effectLst>
            <a:outerShdw blurRad="254000" dist="635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099048" y="2944368"/>
            <a:ext cx="2761488" cy="54864"/>
          </a:xfrm>
          <a:prstGeom prst="round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27064" y="3035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501384" y="3054096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+ Team Logs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227064" y="3346704"/>
            <a:ext cx="2505456" cy="18288"/>
          </a:xfrm>
          <a:prstGeom prst="rect">
            <a:avLst/>
          </a:prstGeom>
          <a:solidFill>
            <a:srgbClr val="1C2A45"/>
          </a:solidFill>
          <a:ln w="12700">
            <a:solidFill>
              <a:srgbClr val="1C2A4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27064" y="3419856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ESLint + SemVer + Conventional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Commits enforced on all teams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docs/team-log maintained per team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785</Words>
  <Application>Microsoft Macintosh PowerPoint</Application>
  <PresentationFormat>On-screen Show (16:9)</PresentationFormat>
  <Paragraphs>157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AIT — Agent Issue Tracker</dc:title>
  <dc:subject>PptxGenJS Presentation</dc:subject>
  <dc:creator>PptxGenJS</dc:creator>
  <cp:lastModifiedBy>Ava Emami</cp:lastModifiedBy>
  <cp:revision>6</cp:revision>
  <dcterms:created xsi:type="dcterms:W3CDTF">2026-05-21T02:36:22Z</dcterms:created>
  <dcterms:modified xsi:type="dcterms:W3CDTF">2026-05-21T03:29:14Z</dcterms:modified>
</cp:coreProperties>
</file>